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7.xml"/><Relationship Id="rId26" Type="http://schemas.openxmlformats.org/officeDocument/2006/relationships/slide" Target="slides/slide24.xml"/><Relationship Id="rId18" Type="http://schemas.openxmlformats.org/officeDocument/2006/relationships/slide" Target="slides/slide16.xml"/><Relationship Id="rId13" Type="http://schemas.openxmlformats.org/officeDocument/2006/relationships/slide" Target="slides/slide11.xml"/><Relationship Id="rId50" Type="http://schemas.openxmlformats.org/officeDocument/2006/relationships/handoutMaster" Target="handoutMasters/handoutMaster1.xml"/><Relationship Id="rId47" Type="http://schemas.openxmlformats.org/officeDocument/2006/relationships/slide" Target="slides/slide45.xml"/><Relationship Id="rId42" Type="http://schemas.openxmlformats.org/officeDocument/2006/relationships/slide" Target="slides/slide40.xml"/><Relationship Id="rId34" Type="http://schemas.openxmlformats.org/officeDocument/2006/relationships/slide" Target="slides/slide32.xml"/><Relationship Id="rId21" Type="http://schemas.openxmlformats.org/officeDocument/2006/relationships/slide" Target="slides/slide19.xml"/><Relationship Id="rId55" Type="http://schemas.openxmlformats.org/officeDocument/2006/relationships/customXml" Target="../customXml/item2.xml"/><Relationship Id="rId7" Type="http://schemas.openxmlformats.org/officeDocument/2006/relationships/slide" Target="slides/slide5.xml"/><Relationship Id="rId29" Type="http://schemas.openxmlformats.org/officeDocument/2006/relationships/slide" Target="slides/slide27.xml"/><Relationship Id="rId2" Type="http://schemas.openxmlformats.org/officeDocument/2006/relationships/theme" Target="theme/theme1.xml"/><Relationship Id="rId16" Type="http://schemas.openxmlformats.org/officeDocument/2006/relationships/slide" Target="slides/slide14.xml"/><Relationship Id="rId53" Type="http://schemas.openxmlformats.org/officeDocument/2006/relationships/tableStyles" Target="tableStyles.xml"/><Relationship Id="rId45" Type="http://schemas.openxmlformats.org/officeDocument/2006/relationships/slide" Target="slides/slide43.xml"/><Relationship Id="rId40" Type="http://schemas.openxmlformats.org/officeDocument/2006/relationships/slide" Target="slides/slide38.xml"/><Relationship Id="rId37" Type="http://schemas.openxmlformats.org/officeDocument/2006/relationships/slide" Target="slides/slide35.xml"/><Relationship Id="rId32" Type="http://schemas.openxmlformats.org/officeDocument/2006/relationships/slide" Target="slides/slide30.xml"/><Relationship Id="rId24" Type="http://schemas.openxmlformats.org/officeDocument/2006/relationships/slide" Target="slides/slide22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52" Type="http://schemas.openxmlformats.org/officeDocument/2006/relationships/viewProps" Target="viewProps.xml"/><Relationship Id="rId44" Type="http://schemas.openxmlformats.org/officeDocument/2006/relationships/slide" Target="slides/slide42.xml"/><Relationship Id="rId31" Type="http://schemas.openxmlformats.org/officeDocument/2006/relationships/slide" Target="slides/slide29.xml"/><Relationship Id="rId19" Type="http://schemas.openxmlformats.org/officeDocument/2006/relationships/slide" Target="slides/slide17.xml"/><Relationship Id="rId10" Type="http://schemas.openxmlformats.org/officeDocument/2006/relationships/slide" Target="slides/slide8.xml"/><Relationship Id="rId9" Type="http://schemas.openxmlformats.org/officeDocument/2006/relationships/slide" Target="slides/slide7.xml"/><Relationship Id="rId48" Type="http://schemas.openxmlformats.org/officeDocument/2006/relationships/slide" Target="slides/slide46.xml"/><Relationship Id="rId43" Type="http://schemas.openxmlformats.org/officeDocument/2006/relationships/slide" Target="slides/slide41.xml"/><Relationship Id="rId4" Type="http://schemas.openxmlformats.org/officeDocument/2006/relationships/slide" Target="slides/slide2.xml"/><Relationship Id="rId35" Type="http://schemas.openxmlformats.org/officeDocument/2006/relationships/slide" Target="slides/slide33.xml"/><Relationship Id="rId30" Type="http://schemas.openxmlformats.org/officeDocument/2006/relationships/slide" Target="slides/slide28.xml"/><Relationship Id="rId27" Type="http://schemas.openxmlformats.org/officeDocument/2006/relationships/slide" Target="slides/slide25.xml"/><Relationship Id="rId22" Type="http://schemas.openxmlformats.org/officeDocument/2006/relationships/slide" Target="slides/slide20.xml"/><Relationship Id="rId14" Type="http://schemas.openxmlformats.org/officeDocument/2006/relationships/slide" Target="slides/slide12.xml"/><Relationship Id="rId56" Type="http://schemas.openxmlformats.org/officeDocument/2006/relationships/customXml" Target="../customXml/item3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46" Type="http://schemas.openxmlformats.org/officeDocument/2006/relationships/slide" Target="slides/slide44.xml"/><Relationship Id="rId38" Type="http://schemas.openxmlformats.org/officeDocument/2006/relationships/slide" Target="slides/slide36.xml"/><Relationship Id="rId33" Type="http://schemas.openxmlformats.org/officeDocument/2006/relationships/slide" Target="slides/slide31.xml"/><Relationship Id="rId25" Type="http://schemas.openxmlformats.org/officeDocument/2006/relationships/slide" Target="slides/slide23.xml"/><Relationship Id="rId17" Type="http://schemas.openxmlformats.org/officeDocument/2006/relationships/slide" Target="slides/slide15.xml"/><Relationship Id="rId12" Type="http://schemas.openxmlformats.org/officeDocument/2006/relationships/slide" Target="slides/slide10.xml"/><Relationship Id="rId41" Type="http://schemas.openxmlformats.org/officeDocument/2006/relationships/slide" Target="slides/slide39.xml"/><Relationship Id="rId20" Type="http://schemas.openxmlformats.org/officeDocument/2006/relationships/slide" Target="slides/slide18.xml"/><Relationship Id="rId54" Type="http://schemas.openxmlformats.org/officeDocument/2006/relationships/customXml" Target="../customXml/item1.xml"/><Relationship Id="rId6" Type="http://schemas.openxmlformats.org/officeDocument/2006/relationships/slide" Target="slides/slide4.xml"/><Relationship Id="rId1" Type="http://schemas.openxmlformats.org/officeDocument/2006/relationships/slideMaster" Target="slideMasters/slideMaster1.xml"/><Relationship Id="rId49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28" Type="http://schemas.openxmlformats.org/officeDocument/2006/relationships/slide" Target="slides/slide26.xml"/><Relationship Id="rId23" Type="http://schemas.openxmlformats.org/officeDocument/2006/relationships/slide" Target="slides/slide21.xml"/><Relationship Id="rId15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Text Classification with Convolutional Neural Networks (CNNs)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Introduction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002060"/>
                </a:solidFill>
              </a:rPr>
              <a:t>Traditional CNNs:</a:t>
            </a:r>
            <a:r>
              <a:rPr lang="en-US" sz="3200">
                <a:solidFill>
                  <a:srgbClr val="002060"/>
                </a:solidFill>
              </a:rPr>
              <a:t> CNNs excel at computer vision tasks. They detect patterns (edges, shapes, textures) in images regardless of their position.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002060"/>
                </a:solidFill>
              </a:rPr>
              <a:t>Intuition for Text:</a:t>
            </a:r>
            <a:r>
              <a:rPr lang="en-US" sz="3200">
                <a:solidFill>
                  <a:srgbClr val="002060"/>
                </a:solidFill>
              </a:rPr>
              <a:t> The same idea applies to text. A CNN can learn to detect meaningful patterns in sequences of words—such as key phrases, n-grams, or sentiment-bearing combinations—regardless of their exact location in a sentence.</a:t>
            </a:r>
            <a:endParaRPr lang="en-US" sz="3200">
              <a:solidFill>
                <a:srgbClr val="002060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3200" b="1">
                <a:solidFill>
                  <a:srgbClr val="002060"/>
                </a:solidFill>
              </a:rPr>
              <a:t>Core Idea: </a:t>
            </a:r>
            <a:r>
              <a:rPr lang="en-US" sz="3200">
                <a:solidFill>
                  <a:srgbClr val="002060"/>
                </a:solidFill>
              </a:rPr>
              <a:t>Instead of scanning over pixels, a 1D convolutional layer scans over a sequence of word vectors to identify informative groupings of words.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From Words to Vectors: The Input Layer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Before a CNN can process text, words must be converted into numerical representations.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 b="1">
                <a:solidFill>
                  <a:srgbClr val="002060"/>
                </a:solidFill>
              </a:rPr>
              <a:t>Word Embeddings:</a:t>
            </a:r>
            <a:r>
              <a:rPr lang="en-US" sz="3200">
                <a:solidFill>
                  <a:srgbClr val="002060"/>
                </a:solidFill>
              </a:rPr>
              <a:t> Each word in the vocabulary is represented as a dense, low-dimensional vector (e.g., 50, 100, 300 dimensions).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Pre-trained embeddings like GloVe or Word2Vec are often used. They come with semantic knowledge (e.g., "king" - "man" + "woman" ≈ "queen").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Embeddings can also be learned from scratch during training.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From Words to Vectors: The Input Layer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Input Matrix: A sentence of n words is represented as a 2D matrix of size n x d, where d is the embedding dimension.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This matrix can be thought of as a "1D image" where the width is the number of words (n) and the "channels" are the embedding dimensions (d).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Step 1: the cat sat on the mat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40000"/>
              </a:lnSpc>
            </a:pPr>
            <a:r>
              <a:rPr lang="en-US" sz="3200" b="1">
                <a:solidFill>
                  <a:srgbClr val="002060"/>
                </a:solidFill>
              </a:rPr>
              <a:t>Preprocessing the Text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200">
                <a:solidFill>
                  <a:srgbClr val="002060"/>
                </a:solidFill>
              </a:rPr>
              <a:t>First, we need to standardize the input. Common steps include: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200">
                <a:solidFill>
                  <a:srgbClr val="002060"/>
                </a:solidFill>
              </a:rPr>
              <a:t>Tokenization: Split the sentence into individual words (tokens).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200">
                <a:solidFill>
                  <a:srgbClr val="002060"/>
                </a:solidFill>
              </a:rPr>
              <a:t>["the", "cat", "sat", "on", "the", "mat"]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Step 1: the cat sat on the mat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40000"/>
              </a:lnSpc>
            </a:pPr>
            <a:r>
              <a:rPr lang="en-US" sz="3200">
                <a:solidFill>
                  <a:srgbClr val="002060"/>
                </a:solidFill>
              </a:rPr>
              <a:t>Padding: CNNs require fixed-length inputs. We choose a maximum sequence length (max_len). Let's set max_len = 6. A shorter sentence would be padded with padding token, and a longer one would be truncated.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200">
                <a:solidFill>
                  <a:srgbClr val="002060"/>
                </a:solidFill>
              </a:rPr>
              <a:t>Our processed sequence remains: ["the", "cat", "sat", "on", "the", "mat"]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Step 2: the cat sat on the mat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200" b="1">
                <a:solidFill>
                  <a:srgbClr val="002060"/>
                </a:solidFill>
              </a:rPr>
              <a:t>Step 2: The Embedding Lookup Layer</a:t>
            </a:r>
            <a:endParaRPr lang="en-US" sz="3200" b="1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Each word is mapped to its corresponding dense vector from an embedding model. Let's assume we are using an embedding with 4 dimensions (d=4) for simplicity (real-world embeddings use 100-300 dimensions).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Step 2: the cat sat on the mat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Imagine our embedding model provides the following vectors: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the -&gt; [0.1, 0.2, 0.3, 0.4]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cat -&gt; [0.5, 0.6, 0.7, 0.8]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sat -&gt; [0.9, 1.0, 1.1, 1.2]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on -&gt; [1.3, 1.4, 1.5, 1.6]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mat -&gt; [1.7, 1.8, 1.9, 2.0]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Step 3: the cat sat on the mat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Step 3: Constructing the Input Matrix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We create a matrix where each row is the vector for the corresponding word in the sequence.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Step 3: the cat sat on the mat</a:t>
            </a:r>
            <a:endParaRPr lang="en-US" sz="440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915" y="1108710"/>
            <a:ext cx="11572875" cy="60051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Step 4: the cat sat on the mat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CNN uses a 1D convolution operation. Here’s the intuition: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 b="1">
                <a:solidFill>
                  <a:srgbClr val="002060"/>
                </a:solidFill>
              </a:rPr>
              <a:t>Filter (Kernel): </a:t>
            </a:r>
            <a:r>
              <a:rPr lang="en-US" sz="3200">
                <a:solidFill>
                  <a:srgbClr val="002060"/>
                </a:solidFill>
              </a:rPr>
              <a:t>A small "window" of weights that slides across the rows (words) of the matrix. 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Let's use a filter of size 2 (it looks at 2 words at a time). 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This filter also has a depth of 4 (the embedding dimension), so its shape is (2, 4).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Step 4: the cat sat on the mat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Let's say our filter W has the following weights: [[0.5, 0.5, 0.5, 0.5], [ -0.5, -0.5, -0.5, -0.5]]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This filter is designed to compute a rough difference between the two word vectors it covers.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Step 4: the cat sat on the mat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Convolution Operation: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The filter starts at the top of the matrix and slides down one word at a time (stride=1).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At each position, it performs an element-wise multiplication between the filter weights and the word vectors, then sums all the results into a single number. This number is a feature.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Step 4: the cat sat on the mat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Let's calculate the first few features: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 b="1">
                <a:solidFill>
                  <a:srgbClr val="002060"/>
                </a:solidFill>
              </a:rPr>
              <a:t>Position 1: </a:t>
            </a:r>
            <a:r>
              <a:rPr lang="en-US" sz="3200">
                <a:solidFill>
                  <a:srgbClr val="002060"/>
                </a:solidFill>
              </a:rPr>
              <a:t>Covers ["the", "cat"]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(0.1*0.5 + 0.2*0.5 + 0.3*0.5 + 0.4*0.5) + (0.5*-0.5 + 0.6*-0.5 + 0.7*-0.5 + 0.8*-0.5)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(0.1+0.2+0.3+0.4)*0.5 + (0.5+0.6+0.7+0.8)*-0.5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(1.0*0.5) + (2.6*-0.5) = 0.5 - 1.3 = -0.8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Step 4: the cat sat on the mat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200" b="1">
                <a:solidFill>
                  <a:srgbClr val="002060"/>
                </a:solidFill>
              </a:rPr>
              <a:t>Position 2: </a:t>
            </a:r>
            <a:r>
              <a:rPr lang="en-US" sz="3200">
                <a:solidFill>
                  <a:srgbClr val="002060"/>
                </a:solidFill>
              </a:rPr>
              <a:t>Covers ["cat", "sat"]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(0.5+0.6+0.7+0.8)*0.5 + (0.9+1.0+1.1+1.2)*-0.5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(2.6*0.5) + (4.2*-0.5) = 1.3 - 2.1 = -0.8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 b="1">
                <a:solidFill>
                  <a:srgbClr val="002060"/>
                </a:solidFill>
              </a:rPr>
              <a:t>Position 3: </a:t>
            </a:r>
            <a:r>
              <a:rPr lang="en-US" sz="3200">
                <a:solidFill>
                  <a:srgbClr val="002060"/>
                </a:solidFill>
              </a:rPr>
              <a:t>Covers ["sat", "on"]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(0.9+1.0+1.1+1.2)*0.5 + (1.3+1.4+1.5+1.6)*-0.5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(4.2*0.5) + (5.8*-0.5) = 2.1 - 2.9 = -0.8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... and so on until the filter covers ["the", "mat"].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Step 4: the cat sat on the mat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200" b="1">
                <a:solidFill>
                  <a:srgbClr val="002060"/>
                </a:solidFill>
              </a:rPr>
              <a:t>Feature Map: </a:t>
            </a:r>
            <a:r>
              <a:rPr lang="en-US" sz="3200">
                <a:solidFill>
                  <a:srgbClr val="002060"/>
                </a:solidFill>
              </a:rPr>
              <a:t>The result of this sliding operation is a list of features (a feature map). For our (6,4) input and a filter of size 2, we get 6 - 2 + 1 = 5 features.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The feature map for our example might look like: [-0.8, -0.8, -0.8, 1.0, 0.2]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Each feature represents the presence of a specific pattern (in this case, a rough difference between adjacent words) at that specific location in the sentence.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The Nature of Text: A 1D Sequence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Fundamental Structure:</a:t>
            </a:r>
            <a:r>
              <a:rPr lang="en-US" sz="3200">
                <a:solidFill>
                  <a:srgbClr val="002060"/>
                </a:solidFill>
              </a:rPr>
              <a:t> At its core, text is a sequence of tokens (words, subwords, or characters) occurring one after the other. 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The order of these tokens is crucial for meaning.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"The dog bit the man" vs. "The man bit the dog" have completely different meanings despite containing the exact same words.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The Nature of Text: A 1D Sequence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Temporal vs. Spatial:</a:t>
            </a:r>
            <a:r>
              <a:rPr lang="en-US" sz="3200">
                <a:solidFill>
                  <a:srgbClr val="002060"/>
                </a:solidFill>
              </a:rPr>
              <a:t> This sequential structure is analogous to a temporal signal, like an audio waveform or a time series. 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Each word is a "point in time." 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Convolution along this single dimension (the sequence order) is the logical way to process it.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How 1D Convolution Works on Text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40000"/>
              </a:lnSpc>
            </a:pPr>
            <a:r>
              <a:rPr lang="en-US" sz="3200" b="1">
                <a:solidFill>
                  <a:srgbClr val="002060"/>
                </a:solidFill>
              </a:rPr>
              <a:t>The Input Matrix:</a:t>
            </a:r>
            <a:r>
              <a:rPr lang="en-US" sz="3200">
                <a:solidFill>
                  <a:srgbClr val="002060"/>
                </a:solidFill>
              </a:rPr>
              <a:t> As shown in the previous example, a sentence is a 2D matrix of shape (sequence_length, embedding_dimension).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200" b="1">
                <a:solidFill>
                  <a:srgbClr val="002060"/>
                </a:solidFill>
              </a:rPr>
              <a:t>The "1D" refers to the direction of movement:</a:t>
            </a:r>
            <a:r>
              <a:rPr lang="en-US" sz="3200">
                <a:solidFill>
                  <a:srgbClr val="002060"/>
                </a:solidFill>
              </a:rPr>
              <a:t> The convolution filter only slides along one axis—the sequence_length axis.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200" b="1">
                <a:solidFill>
                  <a:srgbClr val="002060"/>
                </a:solidFill>
              </a:rPr>
              <a:t>The Filter's Perspective: </a:t>
            </a:r>
            <a:r>
              <a:rPr lang="en-US" sz="3200">
                <a:solidFill>
                  <a:srgbClr val="002060"/>
                </a:solidFill>
              </a:rPr>
              <a:t>A filter of size k (e.g., 2, 3, 5) looks at k consecutive words at a time. It performs a weighted sum across all embedding dimensions simultaneously for those k words to produce a single feature value.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/>
          <a:p>
            <a:pPr algn="ctr"/>
            <a:r>
              <a:rPr lang="en-US" sz="4400">
                <a:solidFill>
                  <a:srgbClr val="FF0000"/>
                </a:solidFill>
              </a:rPr>
              <a:t>How 1D Convolution Works on Text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40000"/>
              </a:lnSpc>
            </a:pPr>
            <a:r>
              <a:rPr lang="en-US" sz="3200" b="1">
                <a:solidFill>
                  <a:srgbClr val="002060"/>
                </a:solidFill>
              </a:rPr>
              <a:t>Crucial Point: </a:t>
            </a:r>
            <a:r>
              <a:rPr lang="en-US" sz="3200">
                <a:solidFill>
                  <a:srgbClr val="002060"/>
                </a:solidFill>
              </a:rPr>
              <a:t>Even though the filter touches all embedding dimensions, it's still called a 1D convolution because its kernel movement and pattern detection are constrained to a single spatial/temporal dimension (the sequence of words).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1D CNNs have key advantages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40000"/>
              </a:lnSpc>
            </a:pPr>
            <a:r>
              <a:rPr lang="en-US" sz="3200" b="1">
                <a:solidFill>
                  <a:srgbClr val="002060"/>
                </a:solidFill>
              </a:rPr>
              <a:t>Parameter Efficiency: </a:t>
            </a:r>
            <a:r>
              <a:rPr lang="en-US" sz="3200">
                <a:solidFill>
                  <a:srgbClr val="002060"/>
                </a:solidFill>
              </a:rPr>
              <a:t>A small filter (e.g., size 3) is shared across all positions in the sequence. This drastically reduces the number of parameters compared to a dense layer that connects to every word.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200" b="1">
                <a:solidFill>
                  <a:srgbClr val="002060"/>
                </a:solidFill>
              </a:rPr>
              <a:t>Translation Invariance:</a:t>
            </a:r>
            <a:r>
              <a:rPr lang="en-US" sz="3200">
                <a:solidFill>
                  <a:srgbClr val="002060"/>
                </a:solidFill>
              </a:rPr>
              <a:t> A CNN learns that a pattern (e.g., the n-gram "very good") is important regardless of whether it appears at the start, middle, or end of a sentence. This is a powerful inductive bias for text.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1D CNNs have key advantages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40000"/>
              </a:lnSpc>
            </a:pPr>
            <a:r>
              <a:rPr lang="en-US" sz="3200" b="1">
                <a:solidFill>
                  <a:srgbClr val="002060"/>
                </a:solidFill>
              </a:rPr>
              <a:t>Hierarchical Feature Learning: </a:t>
            </a:r>
            <a:r>
              <a:rPr lang="en-US" sz="3200">
                <a:solidFill>
                  <a:srgbClr val="002060"/>
                </a:solidFill>
              </a:rPr>
              <a:t>Lower layers detect simple n-grams (e.g., "not good"). Subsequent layers can combine these simple features into more complex patterns (e.g., "was definitely not good at all"), mimicking how human language is structured.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1D CNNs have key advantages</a:t>
            </a:r>
            <a:endParaRPr lang="en-US" sz="440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139065" y="1105535"/>
          <a:ext cx="11698605" cy="5304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660"/>
                <a:gridCol w="8576945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Reason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/>
                        <a:t>Explanation</a:t>
                      </a:r>
                      <a:endParaRPr lang="en-US" sz="2800"/>
                    </a:p>
                  </a:txBody>
                  <a:tcPr/>
                </a:tc>
              </a:tr>
              <a:tr h="969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</a:rPr>
                        <a:t>Data Structure</a:t>
                      </a:r>
                      <a:endParaRPr lang="en-US" sz="2800" b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</a:rPr>
                        <a:t>Text is a 1D sequence of tokens. 1D convolution is designed for such sequential data.</a:t>
                      </a:r>
                      <a:endParaRPr lang="en-US" sz="2800" b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  <a:tr h="969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</a:rPr>
                        <a:t>Pattern Detection</a:t>
                      </a:r>
                      <a:endParaRPr lang="en-US" sz="2800" b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</a:rPr>
                        <a:t>It efficiently detects local patterns (n-grams) that are predictive of the output class.</a:t>
                      </a:r>
                      <a:endParaRPr lang="en-US" sz="2800" b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  <a:tr h="969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</a:rPr>
                        <a:t>Parameter Sharing</a:t>
                      </a:r>
                      <a:endParaRPr lang="en-US" sz="2800" b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</a:rPr>
                        <a:t>The same filter is used across all sequence positions, making the model efficient and easier to train.</a:t>
                      </a:r>
                      <a:endParaRPr lang="en-US" sz="2800" b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  <a:tr h="9690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</a:rPr>
                        <a:t>Translation Invariance</a:t>
                      </a:r>
                      <a:endParaRPr lang="en-US" sz="2800" b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</a:rPr>
                        <a:t>It recognizes that a meaningful phrase has the same importance no matter where it appears in the text.</a:t>
                      </a:r>
                      <a:endParaRPr lang="en-US" sz="2800" b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  <a:tr h="969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</a:rPr>
                        <a:t>Dimensionality Correctness</a:t>
                      </a:r>
                      <a:endParaRPr lang="en-US" sz="2800" b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800" b="0">
                          <a:solidFill>
                            <a:srgbClr val="002060"/>
                          </a:solidFill>
                        </a:rPr>
                        <a:t>The embedding dimensions are feature channels, not a spatial axis. 2D convolution would misuse this structure.</a:t>
                      </a:r>
                      <a:endParaRPr lang="en-US" sz="2800" b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Code: </a:t>
            </a:r>
            <a:endParaRPr lang="en-US" sz="440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025" y="1400175"/>
            <a:ext cx="8743950" cy="4057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Code: </a:t>
            </a:r>
            <a:endParaRPr lang="en-US" sz="440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795" y="1189990"/>
            <a:ext cx="11214735" cy="5000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Code: </a:t>
            </a:r>
            <a:endParaRPr lang="en-US" sz="440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165" y="995045"/>
            <a:ext cx="4998085" cy="5548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Code: </a:t>
            </a:r>
            <a:endParaRPr lang="en-US" sz="440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120" y="1042670"/>
            <a:ext cx="11287125" cy="4772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Code: </a:t>
            </a:r>
            <a:endParaRPr lang="en-US" sz="440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" y="1316355"/>
            <a:ext cx="11004550" cy="4872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Code: </a:t>
            </a:r>
            <a:endParaRPr lang="en-US" sz="440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070" y="1947545"/>
            <a:ext cx="9801225" cy="2962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Code: </a:t>
            </a:r>
            <a:endParaRPr lang="en-US" sz="440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85" y="1690370"/>
            <a:ext cx="12248515" cy="10718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7055"/>
            <a:ext cx="10086975" cy="1352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895" y="4353560"/>
            <a:ext cx="6029325" cy="1419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Code: </a:t>
            </a:r>
            <a:endParaRPr lang="en-US" sz="440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460" y="1380490"/>
            <a:ext cx="8486775" cy="1409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3427730"/>
            <a:ext cx="11544300" cy="1485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 fontScale="90000"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Implementing a 1D CNN for a Named Entity Recognition (NER) system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The model architecture for this problem is defined as follows: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Embedding Layer: input_dim=5 (vocab size), output_dim=3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1D Convolutional Layer: filters=2, kernel_size=2, activation='relu', padding='valid'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Global Max Pooling Layer: To extract the most important feature for the entire word.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200">
                <a:solidFill>
                  <a:srgbClr val="002060"/>
                </a:solidFill>
              </a:rPr>
              <a:t>Output Dense Layer: units=2 (number of entity tags: e.g., 0 for 'O', 1 for 'B-PER'), activation='softmax'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 fontScale="90000"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Implementing a 1D CNN for a Named Entity Recognition (NER) system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A sample sentence "Artificial Intelligence" is converted into a sequence of 2 word indices based on a vocabulary: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Character Vocabulary: {'Artificial':0, 'BERT':1, 'Intelligence':2, 'N-gram':3, ' ':4}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Input Sequence (X): [0, 2] // representing the characters 'A' and 'I'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Pre-trained Embedding Matrix </a:t>
            </a:r>
            <a:endParaRPr lang="en-US" sz="440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518795" y="132588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Index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Embedding Vector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[1.0, 0.0, 0.0]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// 'Artificial</a:t>
                      </a:r>
                      <a:r>
                        <a:rPr lang="en-US" sz="3600">
                          <a:solidFill>
                            <a:srgbClr val="002060"/>
                          </a:solidFill>
                          <a:sym typeface="+mn-ea"/>
                        </a:rPr>
                        <a:t>'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[0.0, 1.0, 0.0]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// 'BERT'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[0.0, 0.0, 1.0]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// 'Intelligence'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[0.5, 0.5, 0.0]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// 'N-gram'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[0.0, 0.0, 0.0]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600">
                          <a:solidFill>
                            <a:srgbClr val="002060"/>
                          </a:solidFill>
                        </a:rPr>
                        <a:t>// padding</a:t>
                      </a:r>
                      <a:endParaRPr lang="en-US" sz="36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Pre-trained Embedding Matrix 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A sample sentence "Artificial Intelligence" is converted into a sequence of 2 word indices based on a vocabulary: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Character Vocabulary: {'Artificial':0, 'BERT':1, 'Intelligence':2, 'N-gram':3, ' ':4}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Input Sequence (X): [0, 2] // representing the characters 'A' and 'I'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Pre-trained Embedding Matrix 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40000"/>
              </a:lnSpc>
            </a:pPr>
            <a:r>
              <a:rPr lang="en-US" sz="3200">
                <a:solidFill>
                  <a:srgbClr val="002060"/>
                </a:solidFill>
              </a:rPr>
              <a:t>The weights for 1D Convolutional layer (2 filters, kernel size=2) are: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200">
                <a:solidFill>
                  <a:srgbClr val="002060"/>
                </a:solidFill>
              </a:rPr>
              <a:t>Filter 1 (F1) - Kernel Weights (2x3 matrix):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200">
                <a:solidFill>
                  <a:srgbClr val="002060"/>
                </a:solidFill>
              </a:rPr>
              <a:t>[[0.5, 0.0, 0.5], [0.0, 1.0, 0.0]]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200">
                <a:solidFill>
                  <a:srgbClr val="002060"/>
                </a:solidFill>
              </a:rPr>
              <a:t>Filter 1 Bias: b1 = 0.0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200">
                <a:solidFill>
                  <a:srgbClr val="002060"/>
                </a:solidFill>
              </a:rPr>
              <a:t>Filter 2 (F2) - Kernel Weights (2x3 matrix):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200">
                <a:solidFill>
                  <a:srgbClr val="002060"/>
                </a:solidFill>
              </a:rPr>
              <a:t>[[0.0, 0.5, 0.0], [1.0, 0.0, 0.0]]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40000"/>
              </a:lnSpc>
            </a:pPr>
            <a:r>
              <a:rPr lang="en-US" sz="3200">
                <a:solidFill>
                  <a:srgbClr val="002060"/>
                </a:solidFill>
              </a:rPr>
              <a:t>Filter 2 Bias: b2 = 0.5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60000"/>
              </a:lnSpc>
            </a:pP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Pre-trained Embedding Matrix 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The Dense layer weights are: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Weights (W): A (2, 2) matrix: [[2.0, 0.0], [0.0, 1.0]]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Biases (b): [0.1, -0.1]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Pre-trained Embedding Matrix 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Create the Input Embedding Matrix (E)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Index 0 (Artificial): [1.0, 0.0, 0.0]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Index 2 (Intelligence): [0.0, 0.0, 1.0]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E = [ [1.0, 0.0, 0.0], [0.0, 0.0, 1.0] 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60000"/>
              </a:lnSpc>
            </a:pP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Pre-trained Embedding Matrix 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Number of valid time steps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n_timesteps = input_sequence_length - kernel_size + 1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2 - 2 + 1 = 1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1 valid time step.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 fontScale="90000"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 Calculate feature values for the first time step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For Filter 1 (F1):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60000"/>
              </a:lnSpc>
            </a:pPr>
            <a:r>
              <a:rPr lang="en-US" sz="3200">
                <a:solidFill>
                  <a:srgbClr val="002060"/>
                </a:solidFill>
              </a:rPr>
              <a:t>Operation: Element-wise multiplication of the filter kernel and the input window, then sum all elements, then add bias.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 fontScale="90000"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 Calculate feature values for the first time step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11250"/>
            <a:ext cx="11687810" cy="554482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F1_Output = sum(dot product of (Window * F1_Kernel)) + b1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= (1.0*0.5 + 0.0*0.0 + 0.0*0.5) +  (0.0*0.0 + 0.0*1.0 + 1.0*0.0) +  0.0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= (0.5 + 0 + 0) + (0 + 0 + 0) + 0.0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= 0.5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 b="1">
                <a:solidFill>
                  <a:srgbClr val="002060"/>
                </a:solidFill>
              </a:rPr>
              <a:t>Apply ReLU:</a:t>
            </a:r>
            <a:r>
              <a:rPr lang="en-US" sz="3200">
                <a:solidFill>
                  <a:srgbClr val="002060"/>
                </a:solidFill>
              </a:rPr>
              <a:t> ReLU(0.5) = 0.5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31545"/>
          </a:xfrm>
        </p:spPr>
        <p:txBody>
          <a:bodyPr>
            <a:normAutofit fontScale="90000"/>
          </a:bodyPr>
          <a:p>
            <a:pPr algn="ctr"/>
            <a:r>
              <a:rPr lang="en-US" sz="4400">
                <a:solidFill>
                  <a:srgbClr val="FF0000"/>
                </a:solidFill>
              </a:rPr>
              <a:t> Calculate feature values for the first time step</a:t>
            </a:r>
            <a:endParaRPr lang="en-US" sz="44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810" y="1111250"/>
            <a:ext cx="11958955" cy="554482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For Filter 2 (F2):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F2_Output = sum(dot product(Window * F2_Kernel)) + b2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= (1.0*0.0 + 0.0*0.5 + 0.0*0.0) + (0.0*1.0 + 0.0*0.0 + 1.0*0.0) +   0.5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= (0 + 0 + 0) + (0 + 0 + 0) + 0.5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= 0.5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Apply ReLU: ReLU(0.5) = 0.5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1375390" cy="931545"/>
          </a:xfrm>
        </p:spPr>
        <p:txBody>
          <a:bodyPr>
            <a:normAutofit fontScale="90000"/>
          </a:bodyPr>
          <a:p>
            <a:pPr algn="ctr"/>
            <a:r>
              <a:rPr lang="en-US" sz="4400">
                <a:solidFill>
                  <a:srgbClr val="C00000"/>
                </a:solidFill>
                <a:sym typeface="+mn-ea"/>
              </a:rPr>
              <a:t>Feature vector for the time step (before pooling)</a:t>
            </a:r>
            <a:endParaRPr lang="en-US" sz="4400">
              <a:solidFill>
                <a:srgbClr val="C0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810" y="1111250"/>
            <a:ext cx="11958955" cy="554482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Feature vector for the time step (before pooling): [0.5, 0.5]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137539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C00000"/>
                </a:solidFill>
                <a:sym typeface="+mn-ea"/>
              </a:rPr>
              <a:t>Global Max Pooling &amp; Dense Layer</a:t>
            </a:r>
            <a:endParaRPr lang="en-US" sz="4400">
              <a:solidFill>
                <a:srgbClr val="C0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810" y="1111250"/>
            <a:ext cx="11958955" cy="554482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Global Max Pooling Output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Global Max Pooling takes the maximum value across each feature map (each filter's output across all time steps). We only have one time step.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The feature map for Filter 1 is [0.5]. The max is 0.5.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The feature map for Filter 2 is [0.5]. The max is 0.5.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Output after Global Max Pooling: [0.5, 0.5]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137539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C00000"/>
                </a:solidFill>
                <a:sym typeface="+mn-ea"/>
              </a:rPr>
              <a:t>Dense Layer Application</a:t>
            </a:r>
            <a:endParaRPr lang="en-US" sz="4400">
              <a:solidFill>
                <a:srgbClr val="C0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810" y="1111250"/>
            <a:ext cx="11958955" cy="554482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Input features (after pooling): [0.5, 0.5]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Dense Layer Operation: Z = (features • W) + b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Z = [0.5, 0.5] • [[2.0, 0.0],  [0.0, 1.0]] </a:t>
            </a:r>
            <a:r>
              <a:rPr lang="en-US" sz="3200">
                <a:solidFill>
                  <a:srgbClr val="002060"/>
                </a:solidFill>
                <a:sym typeface="+mn-ea"/>
              </a:rPr>
              <a:t>+ [0.1, -0.1]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Z_tag0 = (0.5 * 2.0) + (0.5 * 0.0) + 0.1 = 1.0 + 0.0 + 0.1 = 1.1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Z_tag1 = (0.5 * 0.0) + (0.5 * 1.0) + (-0.1) = 0.0 + 0.5 - 0.1 = 0.4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Scores (Z): [1.1, 0.4]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1375390" cy="931545"/>
          </a:xfrm>
        </p:spPr>
        <p:txBody>
          <a:bodyPr>
            <a:normAutofit/>
          </a:bodyPr>
          <a:p>
            <a:pPr algn="ctr"/>
            <a:r>
              <a:rPr lang="en-US" sz="4400">
                <a:solidFill>
                  <a:srgbClr val="C00000"/>
                </a:solidFill>
                <a:sym typeface="+mn-ea"/>
              </a:rPr>
              <a:t>Apply Softmax</a:t>
            </a:r>
            <a:endParaRPr lang="en-US" sz="4400">
              <a:solidFill>
                <a:srgbClr val="C0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810" y="1111250"/>
            <a:ext cx="11958955" cy="554482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softmax(z_i) = exp(z_i) / sum(exp(z_i))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exp(Z) = [exp(1.1), exp(0.4)] ≈ [3.004, 1.492]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sum(exp(Z)) ≈ 3.004 + 1.492 = 4.496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P(tag0) = 3.004 / 4.496 ≈ 0.668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P(tag1) = 1.492 / 4.496 ≈ 0.332</a:t>
            </a:r>
            <a:endParaRPr lang="en-US" sz="32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200">
                <a:solidFill>
                  <a:srgbClr val="002060"/>
                </a:solidFill>
              </a:rPr>
              <a:t>Final Probability Distribution: [0.668, 0.332]</a:t>
            </a:r>
            <a:endParaRPr lang="en-US" sz="32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F55B17E1F58342BC96E92B2CCC7F39" ma:contentTypeVersion="3" ma:contentTypeDescription="Create a new document." ma:contentTypeScope="" ma:versionID="1442951eaf5088059da9ec97b6c5426e">
  <xsd:schema xmlns:xsd="http://www.w3.org/2001/XMLSchema" xmlns:xs="http://www.w3.org/2001/XMLSchema" xmlns:p="http://schemas.microsoft.com/office/2006/metadata/properties" xmlns:ns2="7491b2a8-0edb-46b8-86e6-d9dd1cdcee5d" targetNamespace="http://schemas.microsoft.com/office/2006/metadata/properties" ma:root="true" ma:fieldsID="39be1b4529ac0196754235bc64f87289" ns2:_="">
    <xsd:import namespace="7491b2a8-0edb-46b8-86e6-d9dd1cdcee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91b2a8-0edb-46b8-86e6-d9dd1cdcee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304D55-B09F-4DA6-9297-99C21AB5F1AD}"/>
</file>

<file path=customXml/itemProps2.xml><?xml version="1.0" encoding="utf-8"?>
<ds:datastoreItem xmlns:ds="http://schemas.openxmlformats.org/officeDocument/2006/customXml" ds:itemID="{6A54008B-3815-4877-B094-E484EE508E67}"/>
</file>

<file path=customXml/itemProps3.xml><?xml version="1.0" encoding="utf-8"?>
<ds:datastoreItem xmlns:ds="http://schemas.openxmlformats.org/officeDocument/2006/customXml" ds:itemID="{1AFFFC77-EEAE-4579-A2D9-CE325A6E79A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10972</Words>
  <Application>WPS Presentation</Application>
  <PresentationFormat>宽屏</PresentationFormat>
  <Paragraphs>311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8" baseType="lpstr">
      <vt:lpstr>Arial</vt:lpstr>
      <vt:lpstr>SimSun</vt:lpstr>
      <vt:lpstr>Wingdings</vt:lpstr>
      <vt:lpstr>Nimbus Roman No9 L</vt:lpstr>
      <vt:lpstr>Arial Black</vt:lpstr>
      <vt:lpstr>Microsoft YaHei</vt:lpstr>
      <vt:lpstr>Droid Sans Fallback</vt:lpstr>
      <vt:lpstr>Arial Unicode MS</vt:lpstr>
      <vt:lpstr>SimSun</vt:lpstr>
      <vt:lpstr>文鼎ＰＬ简中楷</vt:lpstr>
      <vt:lpstr>OpenSymbol</vt:lpstr>
      <vt:lpstr>Office Theme</vt:lpstr>
      <vt:lpstr>Text Classification with Convolutional Neural Networks (CNNs)</vt:lpstr>
      <vt:lpstr>Introduction</vt:lpstr>
      <vt:lpstr>From Words to Vectors: The Input Layer</vt:lpstr>
      <vt:lpstr>From Words to Vectors: The Input Layer</vt:lpstr>
      <vt:lpstr>Step 1: the cat sat on the mat</vt:lpstr>
      <vt:lpstr>Step 1: the cat sat on the mat</vt:lpstr>
      <vt:lpstr>Step 2: the cat sat on the mat</vt:lpstr>
      <vt:lpstr>Step 2: the cat sat on the mat</vt:lpstr>
      <vt:lpstr>Step 3: the cat sat on the mat</vt:lpstr>
      <vt:lpstr>Step 3: the cat sat on the mat</vt:lpstr>
      <vt:lpstr>Step 4: the cat sat on the mat</vt:lpstr>
      <vt:lpstr>Step 4: the cat sat on the mat</vt:lpstr>
      <vt:lpstr>Step 4: the cat sat on the mat</vt:lpstr>
      <vt:lpstr>Step 4: the cat sat on the mat</vt:lpstr>
      <vt:lpstr>Step 4: the cat sat on the mat</vt:lpstr>
      <vt:lpstr>Step 4: the cat sat on the mat</vt:lpstr>
      <vt:lpstr>The Nature of Text: A 1D Sequence</vt:lpstr>
      <vt:lpstr>The Nature of Text: A 1D Sequence</vt:lpstr>
      <vt:lpstr>How 1D Convolution Works on Text</vt:lpstr>
      <vt:lpstr>How 1D Convolution Works on Text</vt:lpstr>
      <vt:lpstr>1D CNNs have key advantages</vt:lpstr>
      <vt:lpstr>1D CNNs have key advantages</vt:lpstr>
      <vt:lpstr>1D CNNs have key advantages</vt:lpstr>
      <vt:lpstr>Code: </vt:lpstr>
      <vt:lpstr>Code: </vt:lpstr>
      <vt:lpstr>Code: </vt:lpstr>
      <vt:lpstr>Code: </vt:lpstr>
      <vt:lpstr>Code: </vt:lpstr>
      <vt:lpstr>Code: </vt:lpstr>
      <vt:lpstr>Code: </vt:lpstr>
      <vt:lpstr>Code: </vt:lpstr>
      <vt:lpstr>The Nature of Text: A 1D Sequence</vt:lpstr>
      <vt:lpstr>Implementing a 1D CNN for a Named Entity Recognition (NER) system</vt:lpstr>
      <vt:lpstr>Implementing a 1D CNN for a Named Entity Recognition (NER) system</vt:lpstr>
      <vt:lpstr>Pre-trained Embedding Matrix </vt:lpstr>
      <vt:lpstr>Pre-trained Embedding Matrix </vt:lpstr>
      <vt:lpstr>Pre-trained Embedding Matrix </vt:lpstr>
      <vt:lpstr>Pre-trained Embedding Matrix </vt:lpstr>
      <vt:lpstr>Pre-trained Embedding Matrix </vt:lpstr>
      <vt:lpstr>Pre-trained Embedding Matrix </vt:lpstr>
      <vt:lpstr> Calculate feature values for the first time step</vt:lpstr>
      <vt:lpstr> Calculate feature values for the first time step</vt:lpstr>
      <vt:lpstr> Calculate feature values for the first time step</vt:lpstr>
      <vt:lpstr>Feature vector for the time step (before pooling)</vt:lpstr>
      <vt:lpstr>Global Max Pooling &amp; Dense Layer</vt:lpstr>
      <vt:lpstr>Dense Layer Application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janaki</cp:lastModifiedBy>
  <cp:revision>135</cp:revision>
  <dcterms:created xsi:type="dcterms:W3CDTF">2025-09-23T10:20:05Z</dcterms:created>
  <dcterms:modified xsi:type="dcterms:W3CDTF">2025-09-23T10:20:05Z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  <property fmtid="{D5CDD505-2E9C-101B-9397-08002B2CF9AE}" pid="4" name="ContentTypeId">
    <vt:lpwstr>0x010100EFF55B17E1F58342BC96E92B2CCC7F39</vt:lpwstr>
  </property>
</Properties>
</file>